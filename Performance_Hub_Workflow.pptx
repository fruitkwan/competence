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161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1097280"/>
            <a:ext cx="137160" cy="13716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64240" y="1828800"/>
            <a:ext cx="137160" cy="13716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2286000"/>
            <a:ext cx="137160" cy="13716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0" y="3200400"/>
            <a:ext cx="137160" cy="13716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Performance 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ADCFC"/>
                </a:solidFill>
                <a:latin typeface="Calibri"/>
              </a:rPr>
              <a:t>End-to-End Workflow, Notifications &amp; Access Permissions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0B4D8"/>
                </a:solidFill>
                <a:latin typeface="Calibri"/>
              </a:rPr>
              <a:t>From appraisal cycle setup through training, monitoring, and disciplinary 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800600"/>
            <a:ext cx="1645920" cy="41148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8006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C447C"/>
                </a:solidFill>
                <a:latin typeface="Calibri"/>
              </a:rPr>
              <a:t>Employee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4800600"/>
            <a:ext cx="1645920" cy="411480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48006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33806"/>
                </a:solidFill>
                <a:latin typeface="Calibri"/>
              </a:rPr>
              <a:t>Manager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4800600"/>
            <a:ext cx="1645920" cy="411480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48006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500A"/>
                </a:solidFill>
                <a:latin typeface="Calibri"/>
              </a:rPr>
              <a:t>HR &amp; Admin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4800600"/>
            <a:ext cx="1645920" cy="411480"/>
          </a:xfrm>
          <a:prstGeom prst="rect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8006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91F1F"/>
                </a:solidFill>
                <a:latin typeface="Calibri"/>
              </a:rPr>
              <a:t>C-Level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D8"/>
                </a:solidFill>
                <a:latin typeface="Calibri"/>
              </a:rPr>
              <a:t>4 Access Roles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Performance Hub — End-to-End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097280"/>
            <a:ext cx="2194560" cy="5120640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23444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78ADD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2011680"/>
            <a:ext cx="20482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Cycle Setup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" y="2651760"/>
            <a:ext cx="197510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2670048"/>
            <a:ext cx="18653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C447C"/>
                </a:solidFill>
                <a:latin typeface="Calibri"/>
              </a:rPr>
              <a:t>HR configures appraisal cycle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" y="3310128"/>
            <a:ext cx="197510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3328415"/>
            <a:ext cx="18653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C447C"/>
                </a:solidFill>
                <a:latin typeface="Calibri"/>
              </a:rPr>
              <a:t>C-Level sets org KPIs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" y="3968496"/>
            <a:ext cx="197510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" y="3986783"/>
            <a:ext cx="18653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C447C"/>
                </a:solidFill>
                <a:latin typeface="Calibri"/>
              </a:rPr>
              <a:t>Objectives drafted by employee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" y="4626864"/>
            <a:ext cx="197510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4645152"/>
            <a:ext cx="18653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C447C"/>
                </a:solidFill>
                <a:latin typeface="Calibri"/>
              </a:rPr>
              <a:t>Manager approves &amp; aligns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41448" y="3566160"/>
            <a:ext cx="137160" cy="274320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06040" y="1097280"/>
            <a:ext cx="2194560" cy="512064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383280" y="123444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12344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34AB7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9192" y="2011680"/>
            <a:ext cx="20482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Appraisal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15768" y="2651760"/>
            <a:ext cx="197510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70632" y="2670048"/>
            <a:ext cx="18653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15C"/>
                </a:solidFill>
                <a:latin typeface="Calibri"/>
              </a:rPr>
              <a:t>Employee self-assessment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15768" y="3310128"/>
            <a:ext cx="197510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70632" y="3328415"/>
            <a:ext cx="18653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15C"/>
                </a:solidFill>
                <a:latin typeface="Calibri"/>
              </a:rPr>
              <a:t>Manager rates &amp; scores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15768" y="3968496"/>
            <a:ext cx="197510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70632" y="3986783"/>
            <a:ext cx="18653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15C"/>
                </a:solidFill>
                <a:latin typeface="Calibri"/>
              </a:rPr>
              <a:t>1:1 calibration meeting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15768" y="4626864"/>
            <a:ext cx="197510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70632" y="4645152"/>
            <a:ext cx="18653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15C"/>
                </a:solidFill>
                <a:latin typeface="Calibri"/>
              </a:rPr>
              <a:t>HR sign-off &amp; cycle close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18888" y="3566160"/>
            <a:ext cx="137160" cy="274320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83480" y="1097280"/>
            <a:ext cx="2194560" cy="512064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60720" y="123444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0" y="12344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F6E56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56632" y="2011680"/>
            <a:ext cx="20482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Skill Gap &amp; Training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93208" y="2651760"/>
            <a:ext cx="197510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48072" y="2670048"/>
            <a:ext cx="18653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4342C"/>
                </a:solidFill>
                <a:latin typeface="Calibri"/>
              </a:rPr>
              <a:t>Auto skill gap detection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93208" y="3310128"/>
            <a:ext cx="197510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48072" y="3328415"/>
            <a:ext cx="18653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4342C"/>
                </a:solidFill>
                <a:latin typeface="Calibri"/>
              </a:rPr>
              <a:t>AI training suggestions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93208" y="3968496"/>
            <a:ext cx="197510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48072" y="3986783"/>
            <a:ext cx="18653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4342C"/>
                </a:solidFill>
                <a:latin typeface="Calibri"/>
              </a:rPr>
              <a:t>Manager assigns courses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93208" y="4626864"/>
            <a:ext cx="197510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48072" y="4645152"/>
            <a:ext cx="18653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4342C"/>
                </a:solidFill>
                <a:latin typeface="Calibri"/>
              </a:rPr>
              <a:t>Cross-functional requests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96328" y="3566160"/>
            <a:ext cx="137160" cy="274320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60920" y="1097280"/>
            <a:ext cx="2194560" cy="5120640"/>
          </a:xfrm>
          <a:prstGeom prst="rect">
            <a:avLst/>
          </a:prstGeom>
          <a:solidFill>
            <a:srgbClr val="854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138160" y="123444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38160" y="12344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54F0B"/>
                </a:solidFill>
                <a:latin typeface="Calibr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34072" y="2011680"/>
            <a:ext cx="20482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Monitoring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0648" y="2651760"/>
            <a:ext cx="197510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25512" y="2670048"/>
            <a:ext cx="18653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12402"/>
                </a:solidFill>
                <a:latin typeface="Calibri"/>
              </a:rPr>
              <a:t>Manager dashboard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70648" y="3310128"/>
            <a:ext cx="197510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25512" y="3328415"/>
            <a:ext cx="18653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12402"/>
                </a:solidFill>
                <a:latin typeface="Calibri"/>
              </a:rPr>
              <a:t>Employee portal (IDP)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70648" y="3968496"/>
            <a:ext cx="197510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25512" y="3986783"/>
            <a:ext cx="18653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12402"/>
                </a:solidFill>
                <a:latin typeface="Calibri"/>
              </a:rPr>
              <a:t>HR org-wide analytics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70648" y="4626864"/>
            <a:ext cx="197510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25512" y="4645152"/>
            <a:ext cx="18653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12402"/>
                </a:solidFill>
                <a:latin typeface="Calibri"/>
              </a:rPr>
              <a:t>C-Level exec view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73768" y="3566160"/>
            <a:ext cx="137160" cy="274320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738360" y="1097280"/>
            <a:ext cx="2194560" cy="512064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515600" y="123444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15600" y="12344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32D2D"/>
                </a:solidFill>
                <a:latin typeface="Calibri"/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11512" y="2011680"/>
            <a:ext cx="20482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Disciplinary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848088" y="2651760"/>
            <a:ext cx="197510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902952" y="2670048"/>
            <a:ext cx="18653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1313"/>
                </a:solidFill>
                <a:latin typeface="Calibri"/>
              </a:rPr>
              <a:t>Performance concern raised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848088" y="3310128"/>
            <a:ext cx="197510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02952" y="3328415"/>
            <a:ext cx="18653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1313"/>
                </a:solidFill>
                <a:latin typeface="Calibri"/>
              </a:rPr>
              <a:t>PIP created &amp; signed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848088" y="3968496"/>
            <a:ext cx="197510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902952" y="3986783"/>
            <a:ext cx="18653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1313"/>
                </a:solidFill>
                <a:latin typeface="Calibri"/>
              </a:rPr>
              <a:t>Milestone check-ins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848088" y="4626864"/>
            <a:ext cx="197510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902952" y="4645152"/>
            <a:ext cx="18653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1313"/>
                </a:solidFill>
                <a:latin typeface="Calibri"/>
              </a:rPr>
              <a:t>Outcome: resolved/escalated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576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A5568"/>
                </a:solidFill>
                <a:latin typeface="Calibri"/>
              </a:rPr>
              <a:t>Bi-annual cadence recommended  •  Employee drafts objectives first  •  HR notified of every 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Phase 1 &amp; 2 — Cycle Setup &amp; Appraisal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54864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5486400" cy="502920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2412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Phase 1 — Cycle Setup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45920"/>
            <a:ext cx="5212080" cy="1280160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45920"/>
            <a:ext cx="73152" cy="1280160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0078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Appraisal Cycle Configuration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29968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Calibri"/>
              </a:rPr>
              <a:t>HR sets cycle type (bi-annual recommended), dates &amp; scoring rubric. All 4 roles notified on launch.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651760"/>
            <a:ext cx="1097280" cy="201168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64261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7500A"/>
                </a:solidFill>
                <a:latin typeface="Calibri"/>
              </a:rPr>
              <a:t>HR/Admin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108960"/>
            <a:ext cx="5212080" cy="1280160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108960"/>
            <a:ext cx="73152" cy="1280160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16382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KPI &amp; Objective Framework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93008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Calibri"/>
              </a:rPr>
              <a:t>C-Level approves org-wide goals. HR cascades to department templates. Managers refine for their teams.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114800"/>
            <a:ext cx="1097280" cy="201168"/>
          </a:xfrm>
          <a:prstGeom prst="rect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1056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91F1F"/>
                </a:solidFill>
                <a:latin typeface="Calibri"/>
              </a:rPr>
              <a:t>C-Level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4114800"/>
            <a:ext cx="1097280" cy="201168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41056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7500A"/>
                </a:solidFill>
                <a:latin typeface="Calibri"/>
              </a:rPr>
              <a:t>HR/Admin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572000"/>
            <a:ext cx="5212080" cy="1280160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572000"/>
            <a:ext cx="73152" cy="1280160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62686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Objective Setting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956048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Calibri"/>
              </a:rPr>
              <a:t>Employee drafts first (promotes ownership). Manager reviews &amp; aligns to team KPIs. Both sign off. HR validates alignment.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577840"/>
            <a:ext cx="1097280" cy="201168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56869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C447C"/>
                </a:solidFill>
                <a:latin typeface="Calibri"/>
              </a:rPr>
              <a:t>Employee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0" y="5577840"/>
            <a:ext cx="1097280" cy="201168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0" y="556869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33806"/>
                </a:solidFill>
                <a:latin typeface="Calibri"/>
              </a:rPr>
              <a:t>Manager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1005840"/>
            <a:ext cx="557784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1005840"/>
            <a:ext cx="5577840" cy="50292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102412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Phase 2 — Appraisal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1645920"/>
            <a:ext cx="5212080" cy="1280160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46520" y="1645920"/>
            <a:ext cx="73152" cy="128016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170078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Self-Assessment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2029968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Calibri"/>
              </a:rPr>
              <a:t>Employee rates own objectives &amp; competencies (1–5) with evidence. Submitted before manager window opens.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29400" y="2651760"/>
            <a:ext cx="1097280" cy="201168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264261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C447C"/>
                </a:solidFill>
                <a:latin typeface="Calibri"/>
              </a:rPr>
              <a:t>Employee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6520" y="3108960"/>
            <a:ext cx="5212080" cy="1280160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46520" y="3108960"/>
            <a:ext cx="73152" cy="128016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29400" y="316382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Manager Appraisal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3493008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Calibri"/>
              </a:rPr>
              <a:t>Manager scores independently, documents evidence, flags skill gaps. System auto-maps gaps to competency library.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29400" y="4114800"/>
            <a:ext cx="1097280" cy="201168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9400" y="41056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33806"/>
                </a:solidFill>
                <a:latin typeface="Calibri"/>
              </a:rPr>
              <a:t>Manager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46520" y="4572000"/>
            <a:ext cx="5212080" cy="1280160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46520" y="4572000"/>
            <a:ext cx="73152" cy="128016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29400" y="462686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1:1 Calibration &amp; HR Sign-Off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956048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Calibri"/>
              </a:rPr>
              <a:t>Both align scores in a documented meeting. Employee e-signs outcome. HR reviews cross-dept consistency. C-Level receives exec summary.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29400" y="5577840"/>
            <a:ext cx="1097280" cy="201168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29400" y="556869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33806"/>
                </a:solidFill>
                <a:latin typeface="Calibri"/>
              </a:rPr>
              <a:t>Manager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63840" y="5577840"/>
            <a:ext cx="1097280" cy="201168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0" y="556869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7500A"/>
                </a:solidFill>
                <a:latin typeface="Calibri"/>
              </a:rPr>
              <a:t>HR/Admin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Phase 3, 4 &amp; 5 — Training, Monitoring &amp; Disciplinary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005840"/>
            <a:ext cx="3749039" cy="5669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005840"/>
            <a:ext cx="3749039" cy="4572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1024128"/>
            <a:ext cx="36027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Phase 3 — Skill Gap &amp; Training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" y="1600200"/>
            <a:ext cx="3529584" cy="1143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1600200"/>
            <a:ext cx="64008" cy="11430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655064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Auto Skill Gap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947672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System compares appraisal scores vs. role benchmarks. Individual IDP generated. Dept-level heatmap for managers.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" y="2843784"/>
            <a:ext cx="3529584" cy="1143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" y="2843784"/>
            <a:ext cx="64008" cy="11430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2898648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AI Training Suggestions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3191256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Courses auto-recommended per gap profile. Critical gaps → mandatory. Employee can enrol or decline with reason.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" y="4087368"/>
            <a:ext cx="3529584" cy="1143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" y="4087368"/>
            <a:ext cx="64008" cy="11430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4142232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Manager Course Assignment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443484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Assign mandatory/optional courses with deadlines. Track progress live. Notified when employee starts &amp; completes.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" y="5330952"/>
            <a:ext cx="3529584" cy="1143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8328" y="5330952"/>
            <a:ext cx="64008" cy="11430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" y="5385816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Cross-Functional 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5678424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Employees or managers submit requests. HR approves. C-Level approves major programmes. Session attendance captured.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1005840"/>
            <a:ext cx="3749039" cy="5669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40" y="1005840"/>
            <a:ext cx="3749039" cy="457200"/>
          </a:xfrm>
          <a:prstGeom prst="rect">
            <a:avLst/>
          </a:prstGeom>
          <a:solidFill>
            <a:srgbClr val="854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79392" y="1024128"/>
            <a:ext cx="36027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Phase 4 — Monitoring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15968" y="1600200"/>
            <a:ext cx="3529584" cy="1143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15968" y="1600200"/>
            <a:ext cx="64008" cy="1143000"/>
          </a:xfrm>
          <a:prstGeom prst="rect">
            <a:avLst/>
          </a:prstGeom>
          <a:solidFill>
            <a:srgbClr val="854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2" y="1655064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Manager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2" y="1947672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Team appraisal status, training progress, skill gap heatmap, overdue alerts, disciplinary overview.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15968" y="2843784"/>
            <a:ext cx="3529584" cy="1143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15968" y="2843784"/>
            <a:ext cx="64008" cy="1143000"/>
          </a:xfrm>
          <a:prstGeom prst="rect">
            <a:avLst/>
          </a:prstGeom>
          <a:solidFill>
            <a:srgbClr val="854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62272" y="2898648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Employee Portal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62272" y="3191256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My objectives, appraisal history, IDP, assigned &amp; suggested courses, course catalogue self-enrolment.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15968" y="4087368"/>
            <a:ext cx="3529584" cy="1143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15968" y="4087368"/>
            <a:ext cx="64008" cy="1143000"/>
          </a:xfrm>
          <a:prstGeom prst="rect">
            <a:avLst/>
          </a:prstGeom>
          <a:solidFill>
            <a:srgbClr val="854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62272" y="4142232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HR &amp; Admin 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62272" y="443484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Org-wide analytics, full activity feed, portal configuration, all disciplinary records, data exports.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15968" y="5330952"/>
            <a:ext cx="3529584" cy="1143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15968" y="5330952"/>
            <a:ext cx="64008" cy="1143000"/>
          </a:xfrm>
          <a:prstGeom prst="rect">
            <a:avLst/>
          </a:prstGeom>
          <a:solidFill>
            <a:srgbClr val="854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62272" y="5385816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C-Level Executive 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62272" y="5678424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Org performance scores, talent risk signals, strategic skill gap trends, training ROI, escalated cases.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83879" y="1005840"/>
            <a:ext cx="3749039" cy="5669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83879" y="1005840"/>
            <a:ext cx="3749039" cy="45720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57031" y="1024128"/>
            <a:ext cx="36027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Phase 5 — Disciplinary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93607" y="1600200"/>
            <a:ext cx="3529584" cy="1143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93607" y="1600200"/>
            <a:ext cx="64008" cy="114300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39911" y="1655064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Performance Concern Raised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39911" y="1947672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Triggers: appraisal score ≤ 2, manager flag, repeated missed deadlines, conduct issue. Formal record created.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93607" y="2843784"/>
            <a:ext cx="3529584" cy="1143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93607" y="2843784"/>
            <a:ext cx="64008" cy="114300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39911" y="2898648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PIP Created &amp; Signed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39911" y="3191256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Clear expectations, mandatory training, 30/60/90-day milestones. Both manager &amp; employee co-sign.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93607" y="4087368"/>
            <a:ext cx="3529584" cy="1143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93607" y="4087368"/>
            <a:ext cx="64008" cy="114300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39911" y="4142232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PIP Review &amp; Outcomes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39911" y="443484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Resolved → back to normal cycle. Extended → revised targets. Escalated → formal hearing with C-Level awareness.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93607" y="5330952"/>
            <a:ext cx="3529584" cy="1143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293607" y="5330952"/>
            <a:ext cx="64008" cy="114300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39911" y="5385816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Ongoing Monitoring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39911" y="5678424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HR tracks all PIPs. C-Level notified on escalations only. Next appraisal reflects improvement trajectory.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Notification Matrix — Who Gets Notified &amp; When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645920" cy="292608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5097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C447C"/>
                </a:solidFill>
                <a:latin typeface="Calibri"/>
              </a:rPr>
              <a:t>E  Employee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960120"/>
            <a:ext cx="1645920" cy="292608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95097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33806"/>
                </a:solidFill>
                <a:latin typeface="Calibri"/>
              </a:rPr>
              <a:t>M  Manager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960120"/>
            <a:ext cx="1645920" cy="292608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95097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500A"/>
                </a:solidFill>
                <a:latin typeface="Calibri"/>
              </a:rPr>
              <a:t>H  HR/Admin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960120"/>
            <a:ext cx="1645920" cy="292608"/>
          </a:xfrm>
          <a:prstGeom prst="rect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95097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91F1F"/>
                </a:solidFill>
                <a:latin typeface="Calibri"/>
              </a:rPr>
              <a:t>C  C-Level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325880"/>
            <a:ext cx="11640312" cy="34747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" y="1335024"/>
            <a:ext cx="38039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Event / Trigger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51376" y="1335024"/>
            <a:ext cx="2249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Triggered 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335024"/>
            <a:ext cx="6035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77456" y="1335024"/>
            <a:ext cx="6035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7536" y="1335024"/>
            <a:ext cx="6035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5" y="1335024"/>
            <a:ext cx="6035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673352"/>
            <a:ext cx="11640312" cy="214884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1682496"/>
            <a:ext cx="1097280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C447C"/>
                </a:solidFill>
                <a:latin typeface="Calibri"/>
              </a:rPr>
              <a:t>CYCLE SETUP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906524"/>
            <a:ext cx="11640312" cy="1965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" y="1906524"/>
            <a:ext cx="376732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Appraisal cycle launched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906524"/>
            <a:ext cx="221284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HR / System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92824" y="1929384"/>
            <a:ext cx="256032" cy="150876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92824" y="1922983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C447C"/>
                </a:solidFill>
                <a:latin typeface="Calibri"/>
              </a:rPr>
              <a:t>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32904" y="1929384"/>
            <a:ext cx="256032" cy="150876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32904" y="1922983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33806"/>
                </a:solidFill>
                <a:latin typeface="Calibri"/>
              </a:rPr>
              <a:t>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72983" y="1929384"/>
            <a:ext cx="256032" cy="150876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72983" y="1922983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7500A"/>
                </a:solidFill>
                <a:latin typeface="Calibri"/>
              </a:rPr>
              <a:t>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13063" y="1929384"/>
            <a:ext cx="256032" cy="150876"/>
          </a:xfrm>
          <a:prstGeom prst="rect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13063" y="1922983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791F1F"/>
                </a:solidFill>
                <a:latin typeface="Calibri"/>
              </a:rPr>
              <a:t>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2112264"/>
            <a:ext cx="11640312" cy="196596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0896" y="2112264"/>
            <a:ext cx="376732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Org KPIs published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51376" y="2112264"/>
            <a:ext cx="221284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C-Level / HR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112264"/>
            <a:ext cx="64008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Calibri"/>
              </a:rPr>
              <a:t>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32904" y="2135124"/>
            <a:ext cx="256032" cy="150876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32904" y="2128723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33806"/>
                </a:solidFill>
                <a:latin typeface="Calibri"/>
              </a:rPr>
              <a:t>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72983" y="2135124"/>
            <a:ext cx="256032" cy="150876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72983" y="2128723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7500A"/>
                </a:solidFill>
                <a:latin typeface="Calibri"/>
              </a:rPr>
              <a:t>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13063" y="2135124"/>
            <a:ext cx="256032" cy="150876"/>
          </a:xfrm>
          <a:prstGeom prst="rect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13063" y="2128723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791F1F"/>
                </a:solidFill>
                <a:latin typeface="Calibri"/>
              </a:rPr>
              <a:t>●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2318004"/>
            <a:ext cx="11640312" cy="196596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0896" y="2318004"/>
            <a:ext cx="376732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Objective-setting opens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51376" y="2318004"/>
            <a:ext cx="221284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System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92824" y="2340864"/>
            <a:ext cx="256032" cy="150876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92824" y="2334463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C447C"/>
                </a:solidFill>
                <a:latin typeface="Calibri"/>
              </a:rPr>
              <a:t>●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32904" y="2340864"/>
            <a:ext cx="256032" cy="150876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32904" y="2334463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33806"/>
                </a:solidFill>
                <a:latin typeface="Calibri"/>
              </a:rPr>
              <a:t>●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72983" y="2340864"/>
            <a:ext cx="256032" cy="150876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72983" y="2334463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7500A"/>
                </a:solidFill>
                <a:latin typeface="Calibri"/>
              </a:rPr>
              <a:t>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2318004"/>
            <a:ext cx="64008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Calibri"/>
              </a:rPr>
              <a:t>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2523744"/>
            <a:ext cx="11640312" cy="1965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10896" y="2523744"/>
            <a:ext cx="376732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Employee submits draft objectives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51376" y="2523744"/>
            <a:ext cx="221284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Employee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2523744"/>
            <a:ext cx="64008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Calibri"/>
              </a:rPr>
              <a:t>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32904" y="2546604"/>
            <a:ext cx="256032" cy="150876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2540203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33806"/>
                </a:solidFill>
                <a:latin typeface="Calibri"/>
              </a:rPr>
              <a:t>●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872983" y="2546604"/>
            <a:ext cx="256032" cy="150876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872983" y="2540203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7500A"/>
                </a:solidFill>
                <a:latin typeface="Calibri"/>
              </a:rPr>
              <a:t>●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21040" y="2523744"/>
            <a:ext cx="64008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Calibri"/>
              </a:rPr>
              <a:t>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2729484"/>
            <a:ext cx="11640312" cy="1965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0896" y="2729484"/>
            <a:ext cx="376732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Manager approves / requests revision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51376" y="2729484"/>
            <a:ext cx="221284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Manager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92824" y="2752344"/>
            <a:ext cx="256032" cy="150876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92824" y="2745943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C447C"/>
                </a:solidFill>
                <a:latin typeface="Calibri"/>
              </a:rPr>
              <a:t>●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40880" y="2729484"/>
            <a:ext cx="64008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Calibri"/>
              </a:rPr>
              <a:t>–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872983" y="2752344"/>
            <a:ext cx="256032" cy="150876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872983" y="2745943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7500A"/>
                </a:solidFill>
                <a:latin typeface="Calibri"/>
              </a:rPr>
              <a:t>●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21040" y="2729484"/>
            <a:ext cx="64008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Calibri"/>
              </a:rPr>
              <a:t>–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2935224"/>
            <a:ext cx="11640312" cy="214884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47472" y="2944368"/>
            <a:ext cx="1097280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C447C"/>
                </a:solidFill>
                <a:latin typeface="Calibri"/>
              </a:rPr>
              <a:t>APPRAISAL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" y="3168396"/>
            <a:ext cx="11640312" cy="1965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10896" y="3168396"/>
            <a:ext cx="376732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Self-assessment submitted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51376" y="3168396"/>
            <a:ext cx="221284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Employee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0" y="3168396"/>
            <a:ext cx="64008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Calibri"/>
              </a:rPr>
              <a:t>–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232904" y="3191256"/>
            <a:ext cx="256032" cy="150876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232904" y="3184855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33806"/>
                </a:solidFill>
                <a:latin typeface="Calibri"/>
              </a:rPr>
              <a:t>●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872983" y="3191256"/>
            <a:ext cx="256032" cy="150876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872983" y="3184855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7500A"/>
                </a:solidFill>
                <a:latin typeface="Calibri"/>
              </a:rPr>
              <a:t>●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321040" y="3168396"/>
            <a:ext cx="64008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Calibri"/>
              </a:rPr>
              <a:t>–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4320" y="3374136"/>
            <a:ext cx="11640312" cy="196596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10896" y="3374136"/>
            <a:ext cx="376732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Self-assessment reminder (3 days)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151376" y="3374136"/>
            <a:ext cx="221284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System auto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592824" y="3396996"/>
            <a:ext cx="256032" cy="150876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592824" y="3390595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C447C"/>
                </a:solidFill>
                <a:latin typeface="Calibri"/>
              </a:rPr>
              <a:t>●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040880" y="3374136"/>
            <a:ext cx="64008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Calibri"/>
              </a:rPr>
              <a:t>–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872983" y="3396996"/>
            <a:ext cx="256032" cy="150876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872983" y="3390595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7500A"/>
                </a:solidFill>
                <a:latin typeface="Calibri"/>
              </a:rPr>
              <a:t>●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321040" y="3374136"/>
            <a:ext cx="64008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Calibri"/>
              </a:rPr>
              <a:t>–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4320" y="3579876"/>
            <a:ext cx="11640312" cy="196596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10896" y="3579876"/>
            <a:ext cx="376732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Manager appraisal completed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151376" y="3579876"/>
            <a:ext cx="221284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Manager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400800" y="3579876"/>
            <a:ext cx="64008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Calibri"/>
              </a:rPr>
              <a:t>–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40880" y="3579876"/>
            <a:ext cx="64008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Calibri"/>
              </a:rPr>
              <a:t>–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872983" y="3602736"/>
            <a:ext cx="256032" cy="150876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872983" y="3596335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7500A"/>
                </a:solidFill>
                <a:latin typeface="Calibri"/>
              </a:rPr>
              <a:t>●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321040" y="3579876"/>
            <a:ext cx="64008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Calibri"/>
              </a:rPr>
              <a:t>–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74320" y="3785616"/>
            <a:ext cx="11640312" cy="1965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10896" y="3785616"/>
            <a:ext cx="376732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1:1 review meeting scheduled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151376" y="3785616"/>
            <a:ext cx="221284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Manager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592824" y="3808476"/>
            <a:ext cx="256032" cy="150876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592824" y="3802075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C447C"/>
                </a:solidFill>
                <a:latin typeface="Calibri"/>
              </a:rPr>
              <a:t>●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040880" y="3785616"/>
            <a:ext cx="64008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Calibri"/>
              </a:rPr>
              <a:t>–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872983" y="3808476"/>
            <a:ext cx="256032" cy="150876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872983" y="3802075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7500A"/>
                </a:solidFill>
                <a:latin typeface="Calibri"/>
              </a:rPr>
              <a:t>●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321040" y="3785616"/>
            <a:ext cx="64008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Calibri"/>
              </a:rPr>
              <a:t>–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74320" y="3991356"/>
            <a:ext cx="11640312" cy="1965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10896" y="3991356"/>
            <a:ext cx="376732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Appraisal outcome published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151376" y="3991356"/>
            <a:ext cx="221284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Manager / HR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592824" y="4014216"/>
            <a:ext cx="256032" cy="150876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592824" y="4007815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C447C"/>
                </a:solidFill>
                <a:latin typeface="Calibri"/>
              </a:rPr>
              <a:t>●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040880" y="3991356"/>
            <a:ext cx="64008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Calibri"/>
              </a:rPr>
              <a:t>–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872983" y="4014216"/>
            <a:ext cx="256032" cy="150876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872983" y="4007815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7500A"/>
                </a:solidFill>
                <a:latin typeface="Calibri"/>
              </a:rPr>
              <a:t>●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321040" y="3991356"/>
            <a:ext cx="64008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Calibri"/>
              </a:rPr>
              <a:t>–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74320" y="4197096"/>
            <a:ext cx="11640312" cy="196596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10896" y="4197096"/>
            <a:ext cx="376732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Employee acknowledges outcome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151376" y="4197096"/>
            <a:ext cx="221284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Employee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400800" y="4197096"/>
            <a:ext cx="64008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Calibri"/>
              </a:rPr>
              <a:t>–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232904" y="4219956"/>
            <a:ext cx="256032" cy="150876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232904" y="4213555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33806"/>
                </a:solidFill>
                <a:latin typeface="Calibri"/>
              </a:rPr>
              <a:t>●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872983" y="4219956"/>
            <a:ext cx="256032" cy="150876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872983" y="4213555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7500A"/>
                </a:solidFill>
                <a:latin typeface="Calibri"/>
              </a:rPr>
              <a:t>●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321040" y="4197096"/>
            <a:ext cx="64008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Calibri"/>
              </a:rPr>
              <a:t>–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74320" y="4402836"/>
            <a:ext cx="11640312" cy="196596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10896" y="4402836"/>
            <a:ext cx="376732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All appraisals complete — cycle closes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151376" y="4402836"/>
            <a:ext cx="221284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System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400800" y="4402836"/>
            <a:ext cx="64008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Calibri"/>
              </a:rPr>
              <a:t>–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232904" y="4425696"/>
            <a:ext cx="256032" cy="150876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232904" y="4419295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33806"/>
                </a:solidFill>
                <a:latin typeface="Calibri"/>
              </a:rPr>
              <a:t>●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872983" y="4425696"/>
            <a:ext cx="256032" cy="150876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7872983" y="4419295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7500A"/>
                </a:solidFill>
                <a:latin typeface="Calibri"/>
              </a:rPr>
              <a:t>●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513063" y="4425696"/>
            <a:ext cx="256032" cy="150876"/>
          </a:xfrm>
          <a:prstGeom prst="rect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513063" y="4419295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791F1F"/>
                </a:solidFill>
                <a:latin typeface="Calibri"/>
              </a:rPr>
              <a:t>●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74320" y="4608575"/>
            <a:ext cx="11640312" cy="214884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347472" y="4617719"/>
            <a:ext cx="1097280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C447C"/>
                </a:solidFill>
                <a:latin typeface="Calibri"/>
              </a:rPr>
              <a:t>TRAINING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74320" y="4841747"/>
            <a:ext cx="11640312" cy="196596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10896" y="4841747"/>
            <a:ext cx="376732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Skill gap report &amp; IDP generated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151376" y="4841747"/>
            <a:ext cx="221284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System auto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592824" y="4864607"/>
            <a:ext cx="256032" cy="150876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592824" y="4858207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C447C"/>
                </a:solidFill>
                <a:latin typeface="Calibri"/>
              </a:rPr>
              <a:t>●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7232904" y="4864607"/>
            <a:ext cx="256032" cy="150876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7232904" y="4858207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33806"/>
                </a:solidFill>
                <a:latin typeface="Calibri"/>
              </a:rPr>
              <a:t>●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7872983" y="4864607"/>
            <a:ext cx="256032" cy="150876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7872983" y="4858207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7500A"/>
                </a:solidFill>
                <a:latin typeface="Calibri"/>
              </a:rPr>
              <a:t>●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321040" y="4841747"/>
            <a:ext cx="64008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Calibri"/>
              </a:rPr>
              <a:t>–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274320" y="5047487"/>
            <a:ext cx="11640312" cy="196596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310896" y="5047487"/>
            <a:ext cx="376732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Training recommendations available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151376" y="5047487"/>
            <a:ext cx="221284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System auto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592824" y="5070347"/>
            <a:ext cx="256032" cy="150876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592824" y="5063947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C447C"/>
                </a:solidFill>
                <a:latin typeface="Calibri"/>
              </a:rPr>
              <a:t>●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232904" y="5070347"/>
            <a:ext cx="256032" cy="150876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232904" y="5063947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33806"/>
                </a:solidFill>
                <a:latin typeface="Calibri"/>
              </a:rPr>
              <a:t>●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7872983" y="5070347"/>
            <a:ext cx="256032" cy="150876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7872983" y="5063947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7500A"/>
                </a:solidFill>
                <a:latin typeface="Calibri"/>
              </a:rPr>
              <a:t>●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321040" y="5047487"/>
            <a:ext cx="64008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Calibri"/>
              </a:rPr>
              <a:t>–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274320" y="5253227"/>
            <a:ext cx="11640312" cy="1965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310896" y="5253227"/>
            <a:ext cx="376732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Manager assigns a course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151376" y="5253227"/>
            <a:ext cx="221284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Manager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6592824" y="5276087"/>
            <a:ext cx="256032" cy="150876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592824" y="5269687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C447C"/>
                </a:solidFill>
                <a:latin typeface="Calibri"/>
              </a:rPr>
              <a:t>●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040880" y="5253227"/>
            <a:ext cx="64008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Calibri"/>
              </a:rPr>
              <a:t>–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7872983" y="5276087"/>
            <a:ext cx="256032" cy="150876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7872983" y="5269687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7500A"/>
                </a:solidFill>
                <a:latin typeface="Calibri"/>
              </a:rPr>
              <a:t>●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8321040" y="5253227"/>
            <a:ext cx="64008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Calibri"/>
              </a:rPr>
              <a:t>–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274320" y="5458967"/>
            <a:ext cx="11640312" cy="1965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310896" y="5458967"/>
            <a:ext cx="376732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Employee starts an assigned course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151376" y="5458967"/>
            <a:ext cx="221284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Employee / LMS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458967"/>
            <a:ext cx="64008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Calibri"/>
              </a:rPr>
              <a:t>–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232904" y="5481827"/>
            <a:ext cx="256032" cy="150876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232904" y="5475427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33806"/>
                </a:solidFill>
                <a:latin typeface="Calibri"/>
              </a:rPr>
              <a:t>●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7872983" y="5481827"/>
            <a:ext cx="256032" cy="150876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7872983" y="5475427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7500A"/>
                </a:solidFill>
                <a:latin typeface="Calibri"/>
              </a:rPr>
              <a:t>●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8321040" y="5458967"/>
            <a:ext cx="64008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Calibri"/>
              </a:rPr>
              <a:t>–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74320" y="5664707"/>
            <a:ext cx="11640312" cy="196596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310896" y="5664707"/>
            <a:ext cx="376732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Employee completes a course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151376" y="5664707"/>
            <a:ext cx="221284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Employee / LMS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6592824" y="5687567"/>
            <a:ext cx="256032" cy="150876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6592824" y="5681167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C447C"/>
                </a:solidFill>
                <a:latin typeface="Calibri"/>
              </a:rPr>
              <a:t>●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7232904" y="5687567"/>
            <a:ext cx="256032" cy="150876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7232904" y="5681167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33806"/>
                </a:solidFill>
                <a:latin typeface="Calibri"/>
              </a:rPr>
              <a:t>●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7872983" y="5687567"/>
            <a:ext cx="256032" cy="150876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7872983" y="5681167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7500A"/>
                </a:solidFill>
                <a:latin typeface="Calibri"/>
              </a:rPr>
              <a:t>●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8321040" y="5664707"/>
            <a:ext cx="64008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Calibri"/>
              </a:rPr>
              <a:t>–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274320" y="5870447"/>
            <a:ext cx="11640312" cy="196596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310896" y="5870447"/>
            <a:ext cx="376732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Cross-functional session approved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4151376" y="5870447"/>
            <a:ext cx="221284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HR / C-Level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592824" y="5893307"/>
            <a:ext cx="256032" cy="150876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6592824" y="5886907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C447C"/>
                </a:solidFill>
                <a:latin typeface="Calibri"/>
              </a:rPr>
              <a:t>●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7232904" y="5893307"/>
            <a:ext cx="256032" cy="150876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7232904" y="5886907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33806"/>
                </a:solidFill>
                <a:latin typeface="Calibri"/>
              </a:rPr>
              <a:t>●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7872983" y="5893307"/>
            <a:ext cx="256032" cy="150876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7872983" y="5886907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7500A"/>
                </a:solidFill>
                <a:latin typeface="Calibri"/>
              </a:rPr>
              <a:t>●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8321040" y="5870447"/>
            <a:ext cx="64008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Calibri"/>
              </a:rPr>
              <a:t>–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274320" y="6076187"/>
            <a:ext cx="11640312" cy="1965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310896" y="6076187"/>
            <a:ext cx="376732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Strategic skill gap — critical alert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4151376" y="6076187"/>
            <a:ext cx="221284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System auto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6400800" y="6076187"/>
            <a:ext cx="64008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Calibri"/>
              </a:rPr>
              <a:t>–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7040880" y="6076187"/>
            <a:ext cx="64008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Calibri"/>
              </a:rPr>
              <a:t>–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7872983" y="6099047"/>
            <a:ext cx="256032" cy="150876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7872983" y="6092647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7500A"/>
                </a:solidFill>
                <a:latin typeface="Calibri"/>
              </a:rPr>
              <a:t>●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8513063" y="6099047"/>
            <a:ext cx="256032" cy="150876"/>
          </a:xfrm>
          <a:prstGeom prst="rect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8513063" y="6092647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791F1F"/>
                </a:solidFill>
                <a:latin typeface="Calibri"/>
              </a:rPr>
              <a:t>●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274320" y="6281927"/>
            <a:ext cx="11640312" cy="214884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347472" y="6291071"/>
            <a:ext cx="1097280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C447C"/>
                </a:solidFill>
                <a:latin typeface="Calibri"/>
              </a:rPr>
              <a:t>DISCIPLINARY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274320" y="6515099"/>
            <a:ext cx="11640312" cy="1965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310896" y="6515099"/>
            <a:ext cx="376732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Performance concern raised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4151376" y="6515099"/>
            <a:ext cx="221284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Manager / HR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6592824" y="6537959"/>
            <a:ext cx="256032" cy="150876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6592824" y="6531559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C447C"/>
                </a:solidFill>
                <a:latin typeface="Calibri"/>
              </a:rPr>
              <a:t>●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7232904" y="6537959"/>
            <a:ext cx="256032" cy="150876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7232904" y="6531559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33806"/>
                </a:solidFill>
                <a:latin typeface="Calibri"/>
              </a:rPr>
              <a:t>●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7872983" y="6537959"/>
            <a:ext cx="256032" cy="150876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7872983" y="6531559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7500A"/>
                </a:solidFill>
                <a:latin typeface="Calibri"/>
              </a:rPr>
              <a:t>●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8321040" y="6515099"/>
            <a:ext cx="64008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Calibri"/>
              </a:rPr>
              <a:t>–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274320" y="6720839"/>
            <a:ext cx="11640312" cy="1965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310896" y="6720839"/>
            <a:ext cx="376732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PIP created &amp; sent for sign-off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4151376" y="6720839"/>
            <a:ext cx="221284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HR / Manager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6592824" y="6743699"/>
            <a:ext cx="256032" cy="150876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6592824" y="6737299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C447C"/>
                </a:solidFill>
                <a:latin typeface="Calibri"/>
              </a:rPr>
              <a:t>●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7232904" y="6743699"/>
            <a:ext cx="256032" cy="150876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7232904" y="6737299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33806"/>
                </a:solidFill>
                <a:latin typeface="Calibri"/>
              </a:rPr>
              <a:t>●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7872983" y="6743699"/>
            <a:ext cx="256032" cy="150876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7872983" y="6737299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7500A"/>
                </a:solidFill>
                <a:latin typeface="Calibri"/>
              </a:rPr>
              <a:t>●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8321040" y="6720839"/>
            <a:ext cx="64008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Calibri"/>
              </a:rPr>
              <a:t>–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274320" y="6926579"/>
            <a:ext cx="11640312" cy="196596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310896" y="6926579"/>
            <a:ext cx="376732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PIP milestone review due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4151376" y="6926579"/>
            <a:ext cx="221284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System auto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6400800" y="6926579"/>
            <a:ext cx="64008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Calibri"/>
              </a:rPr>
              <a:t>–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7232904" y="6949439"/>
            <a:ext cx="256032" cy="150876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7232904" y="6943039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33806"/>
                </a:solidFill>
                <a:latin typeface="Calibri"/>
              </a:rPr>
              <a:t>●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7872983" y="6949439"/>
            <a:ext cx="256032" cy="150876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7872983" y="6943039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7500A"/>
                </a:solidFill>
                <a:latin typeface="Calibri"/>
              </a:rPr>
              <a:t>●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8321040" y="6926579"/>
            <a:ext cx="64008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Calibri"/>
              </a:rPr>
              <a:t>–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274320" y="7132319"/>
            <a:ext cx="11640312" cy="196596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310896" y="7132319"/>
            <a:ext cx="376732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PIP outcome: resolved / extended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4151376" y="7132319"/>
            <a:ext cx="221284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Manager / HR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6592824" y="7155179"/>
            <a:ext cx="256032" cy="150876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6592824" y="7148779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C447C"/>
                </a:solidFill>
                <a:latin typeface="Calibri"/>
              </a:rPr>
              <a:t>●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7232904" y="7155179"/>
            <a:ext cx="256032" cy="150876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7232904" y="7148779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33806"/>
                </a:solidFill>
                <a:latin typeface="Calibri"/>
              </a:rPr>
              <a:t>●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7872983" y="7155179"/>
            <a:ext cx="256032" cy="150876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7872983" y="7148779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7500A"/>
                </a:solidFill>
                <a:latin typeface="Calibri"/>
              </a:rPr>
              <a:t>●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8321040" y="7132319"/>
            <a:ext cx="64008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Calibri"/>
              </a:rPr>
              <a:t>–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274320" y="7338059"/>
            <a:ext cx="11640312" cy="1965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310896" y="7338059"/>
            <a:ext cx="376732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PIP escalated — formal disciplinary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4151376" y="7338059"/>
            <a:ext cx="221284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HR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6592824" y="7360919"/>
            <a:ext cx="256032" cy="150876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6592824" y="7354519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C447C"/>
                </a:solidFill>
                <a:latin typeface="Calibri"/>
              </a:rPr>
              <a:t>●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7232904" y="7360919"/>
            <a:ext cx="256032" cy="150876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7232904" y="7354519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33806"/>
                </a:solidFill>
                <a:latin typeface="Calibri"/>
              </a:rPr>
              <a:t>●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7872983" y="7360919"/>
            <a:ext cx="256032" cy="150876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7872983" y="7354519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7500A"/>
                </a:solidFill>
                <a:latin typeface="Calibri"/>
              </a:rPr>
              <a:t>●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8513063" y="7360919"/>
            <a:ext cx="256032" cy="150876"/>
          </a:xfrm>
          <a:prstGeom prst="rect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8513063" y="7354519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791F1F"/>
                </a:solidFill>
                <a:latin typeface="Calibri"/>
              </a:rPr>
              <a:t>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4-Role Access &amp; Permissions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005840"/>
            <a:ext cx="2816352" cy="64008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33271"/>
            <a:ext cx="2679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C447C"/>
                </a:solidFill>
                <a:latin typeface="Calibri"/>
              </a:rPr>
              <a:t>Employee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389888"/>
            <a:ext cx="2679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C447C"/>
                </a:solidFill>
                <a:latin typeface="Calibri"/>
              </a:rPr>
              <a:t>Individual contributor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737360"/>
            <a:ext cx="2816352" cy="256032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755648"/>
            <a:ext cx="2679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  <a:latin typeface="Calibri"/>
              </a:rPr>
              <a:t>APPRAISAL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011679"/>
            <a:ext cx="281635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2011679"/>
            <a:ext cx="54864" cy="301752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" y="2029967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Write own self-assessment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322575"/>
            <a:ext cx="281635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2322575"/>
            <a:ext cx="54864" cy="301752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" y="2340863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View own results &amp; acknowledge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2633471"/>
            <a:ext cx="281635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" y="2633471"/>
            <a:ext cx="54864" cy="301752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" y="2651759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No access to others' appraisals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999231"/>
            <a:ext cx="2816352" cy="256032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017519"/>
            <a:ext cx="2679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  <a:latin typeface="Calibri"/>
              </a:rPr>
              <a:t>TRAINING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3273551"/>
            <a:ext cx="281635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" y="3273551"/>
            <a:ext cx="54864" cy="301752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" y="3291839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View assigned &amp; suggested courses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3584447"/>
            <a:ext cx="281635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3584447"/>
            <a:ext cx="54864" cy="301752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" y="3602735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Self-enrol from catalogue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3895343"/>
            <a:ext cx="281635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3895343"/>
            <a:ext cx="54864" cy="301752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" y="3913631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Request cross-functional sessions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4261103"/>
            <a:ext cx="2816352" cy="256032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4279391"/>
            <a:ext cx="2679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  <a:latin typeface="Calibri"/>
              </a:rPr>
              <a:t>PORTAL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4535423"/>
            <a:ext cx="281635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28600" y="4535423"/>
            <a:ext cx="54864" cy="301752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" y="4553711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Own IDP &amp; skill gap report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4846319"/>
            <a:ext cx="281635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4846319"/>
            <a:ext cx="54864" cy="301752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6" y="4864607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No admin access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9544" y="1005840"/>
            <a:ext cx="2816352" cy="640080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00984" y="1033271"/>
            <a:ext cx="2679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33806"/>
                </a:solidFill>
                <a:latin typeface="Calibri"/>
              </a:rPr>
              <a:t>Manager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00984" y="1389888"/>
            <a:ext cx="2679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33806"/>
                </a:solidFill>
                <a:latin typeface="Calibri"/>
              </a:rPr>
              <a:t>Department / team lead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9544" y="1737360"/>
            <a:ext cx="2816352" cy="256032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00984" y="1755648"/>
            <a:ext cx="2679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  <a:latin typeface="Calibri"/>
              </a:rPr>
              <a:t>APPRAISAL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9544" y="2011679"/>
            <a:ext cx="281635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09544" y="2011679"/>
            <a:ext cx="54864" cy="301752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37560" y="2029967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Complete appraisals for direct reports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9544" y="2322575"/>
            <a:ext cx="281635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9544" y="2322575"/>
            <a:ext cx="54864" cy="301752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37560" y="2340863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View all team results &amp; 1:1 reviews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9544" y="2633471"/>
            <a:ext cx="281635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09544" y="2633471"/>
            <a:ext cx="54864" cy="301752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37560" y="2651759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Cannot view other departments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9544" y="2999231"/>
            <a:ext cx="2816352" cy="256032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00984" y="3017519"/>
            <a:ext cx="2679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  <a:latin typeface="Calibri"/>
              </a:rPr>
              <a:t>TRAINING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9544" y="3273551"/>
            <a:ext cx="281635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9544" y="3273551"/>
            <a:ext cx="54864" cy="301752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37560" y="3291839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Assign courses + set deadlines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9544" y="3584447"/>
            <a:ext cx="281635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209544" y="3584447"/>
            <a:ext cx="54864" cy="301752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37560" y="3602735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Track team training progress live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9544" y="3895343"/>
            <a:ext cx="281635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209544" y="3895343"/>
            <a:ext cx="54864" cy="301752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337560" y="3913631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Cannot approve cross-functional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9544" y="4261103"/>
            <a:ext cx="2816352" cy="256032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300984" y="4279391"/>
            <a:ext cx="2679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  <a:latin typeface="Calibri"/>
              </a:rPr>
              <a:t>PORTAL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9544" y="4535423"/>
            <a:ext cx="281635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209544" y="4535423"/>
            <a:ext cx="54864" cy="301752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337560" y="4553711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Team skill gap heatmap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9544" y="4846319"/>
            <a:ext cx="281635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209544" y="4846319"/>
            <a:ext cx="54864" cy="301752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337560" y="4864607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Disciplinary: flag &amp; co-author PIP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9544" y="5157215"/>
            <a:ext cx="281635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209544" y="5157215"/>
            <a:ext cx="54864" cy="301752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337560" y="5175503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No portal admin access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190488" y="1005840"/>
            <a:ext cx="2816352" cy="640080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81927" y="1033271"/>
            <a:ext cx="2679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7500A"/>
                </a:solidFill>
                <a:latin typeface="Calibri"/>
              </a:rPr>
              <a:t>HR &amp; Admin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81927" y="1389888"/>
            <a:ext cx="2679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7500A"/>
                </a:solidFill>
                <a:latin typeface="Calibri"/>
              </a:rPr>
              <a:t>Full portal control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90488" y="1737360"/>
            <a:ext cx="2816352" cy="256032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81927" y="1755648"/>
            <a:ext cx="2679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  <a:latin typeface="Calibri"/>
              </a:rPr>
              <a:t>APPRAISAL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90488" y="2011679"/>
            <a:ext cx="281635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190488" y="2011679"/>
            <a:ext cx="54864" cy="301752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318503" y="2029967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View &amp; calibrate all org appraisals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190488" y="2322575"/>
            <a:ext cx="281635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190488" y="2322575"/>
            <a:ext cx="54864" cy="301752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318503" y="2340863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Override / unlock any record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90488" y="2633471"/>
            <a:ext cx="281635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190488" y="2633471"/>
            <a:ext cx="54864" cy="301752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18503" y="2651759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Export data for payroll / rewards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190488" y="2999231"/>
            <a:ext cx="2816352" cy="256032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281927" y="3017519"/>
            <a:ext cx="2679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  <a:latin typeface="Calibri"/>
              </a:rPr>
              <a:t>TRAINING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190488" y="3273551"/>
            <a:ext cx="281635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190488" y="3273551"/>
            <a:ext cx="54864" cy="301752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18503" y="3291839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Edit course catalogue &amp; approve requests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90488" y="3584447"/>
            <a:ext cx="281635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190488" y="3584447"/>
            <a:ext cx="54864" cy="301752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318503" y="3602735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View all training records org-wide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190488" y="3950207"/>
            <a:ext cx="2816352" cy="256032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281927" y="3968495"/>
            <a:ext cx="2679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  <a:latin typeface="Calibri"/>
              </a:rPr>
              <a:t>PORTAL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190488" y="4224527"/>
            <a:ext cx="281635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190488" y="4224527"/>
            <a:ext cx="54864" cy="301752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318503" y="4242815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Full config: roles, notifications, cycles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90488" y="4535423"/>
            <a:ext cx="281635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190488" y="4535423"/>
            <a:ext cx="54864" cy="301752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318503" y="4553711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Initiate &amp; manage all disciplinary actions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190488" y="4846319"/>
            <a:ext cx="281635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190488" y="4846319"/>
            <a:ext cx="54864" cy="301752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18503" y="4864607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Daily activity digest — all events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171432" y="1005840"/>
            <a:ext cx="2816352" cy="640080"/>
          </a:xfrm>
          <a:prstGeom prst="rect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262872" y="1033271"/>
            <a:ext cx="2679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91F1F"/>
                </a:solidFill>
                <a:latin typeface="Calibri"/>
              </a:rPr>
              <a:t>C-Level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262872" y="1389888"/>
            <a:ext cx="2679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91F1F"/>
                </a:solidFill>
                <a:latin typeface="Calibri"/>
              </a:rPr>
              <a:t>Executive leadership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71432" y="1737360"/>
            <a:ext cx="2816352" cy="256032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262872" y="1755648"/>
            <a:ext cx="2679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  <a:latin typeface="Calibri"/>
              </a:rPr>
              <a:t>APPRAISAL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171432" y="2011679"/>
            <a:ext cx="281635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171432" y="2011679"/>
            <a:ext cx="54864" cy="301752"/>
          </a:xfrm>
          <a:prstGeom prst="rect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299448" y="2029967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Org-wide performance summary (aggregate)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171432" y="2322575"/>
            <a:ext cx="281635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171432" y="2322575"/>
            <a:ext cx="54864" cy="301752"/>
          </a:xfrm>
          <a:prstGeom prst="rect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299448" y="2340863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No access to individual appraisals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171432" y="2633471"/>
            <a:ext cx="281635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171432" y="2633471"/>
            <a:ext cx="54864" cy="301752"/>
          </a:xfrm>
          <a:prstGeom prst="rect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299448" y="2651759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Sets &amp; approves strategic KPIs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171432" y="2999231"/>
            <a:ext cx="2816352" cy="256032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262872" y="3017519"/>
            <a:ext cx="2679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  <a:latin typeface="Calibri"/>
              </a:rPr>
              <a:t>TRAINING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171432" y="3273551"/>
            <a:ext cx="281635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9171432" y="3273551"/>
            <a:ext cx="54864" cy="301752"/>
          </a:xfrm>
          <a:prstGeom prst="rect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299448" y="3291839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Approve major programmes &amp; budget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171432" y="3584447"/>
            <a:ext cx="281635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9171432" y="3584447"/>
            <a:ext cx="54864" cy="301752"/>
          </a:xfrm>
          <a:prstGeom prst="rect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299448" y="3602735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View training ROI metrics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171432" y="3950207"/>
            <a:ext cx="2816352" cy="256032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262872" y="3968495"/>
            <a:ext cx="2679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  <a:latin typeface="Calibri"/>
              </a:rPr>
              <a:t>PORTAL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171432" y="4224527"/>
            <a:ext cx="281635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9171432" y="4224527"/>
            <a:ext cx="54864" cy="301752"/>
          </a:xfrm>
          <a:prstGeom prst="rect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299448" y="4242815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Executive dashboard — read only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171432" y="4535423"/>
            <a:ext cx="281635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9171432" y="4535423"/>
            <a:ext cx="54864" cy="301752"/>
          </a:xfrm>
          <a:prstGeom prst="rect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299448" y="4553711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Aware of escalated disciplinary cases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171432" y="4846319"/>
            <a:ext cx="281635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9171432" y="4846319"/>
            <a:ext cx="54864" cy="301752"/>
          </a:xfrm>
          <a:prstGeom prst="rect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299448" y="4864607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No portal admin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Data Scope Matrix &amp; Access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737360" cy="292608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5097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7500A"/>
                </a:solidFill>
                <a:latin typeface="Calibri"/>
              </a:rPr>
              <a:t>Full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0" y="960120"/>
            <a:ext cx="1737360" cy="292608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95097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C447C"/>
                </a:solidFill>
                <a:latin typeface="Calibri"/>
              </a:rPr>
              <a:t>Own data 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960120"/>
            <a:ext cx="1737360" cy="292608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95097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33806"/>
                </a:solidFill>
                <a:latin typeface="Calibri"/>
              </a:rPr>
              <a:t>View / read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960120"/>
            <a:ext cx="1737360" cy="292608"/>
          </a:xfrm>
          <a:prstGeom prst="rect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95097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91F1F"/>
                </a:solidFill>
                <a:latin typeface="Calibri"/>
              </a:rPr>
              <a:t>Aggregate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0" y="960120"/>
            <a:ext cx="1737360" cy="292608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95097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88780"/>
                </a:solidFill>
                <a:latin typeface="Calibri"/>
              </a:rPr>
              <a:t>No access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325880"/>
            <a:ext cx="11640312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344168"/>
            <a:ext cx="3429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Portal Feature /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59" y="1344168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Employee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59" y="1344168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Manager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1344168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HR &amp; 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1344168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C-Level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709928"/>
            <a:ext cx="11640312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1801368"/>
            <a:ext cx="33649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Own performance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77639" y="1819656"/>
            <a:ext cx="1371600" cy="256032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39" y="18105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7500A"/>
                </a:solidFill>
                <a:latin typeface="Calibri"/>
              </a:rPr>
              <a:t>Full access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06440" y="1819656"/>
            <a:ext cx="1371600" cy="256032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06440" y="18105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7500A"/>
                </a:solidFill>
                <a:latin typeface="Calibri"/>
              </a:rPr>
              <a:t>Full access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79" y="1819656"/>
            <a:ext cx="1371600" cy="256032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79" y="18105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7500A"/>
                </a:solidFill>
                <a:latin typeface="Calibri"/>
              </a:rPr>
              <a:t>Full access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1819656"/>
            <a:ext cx="1371600" cy="256032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46920" y="18105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33806"/>
                </a:solidFill>
                <a:latin typeface="Calibri"/>
              </a:rPr>
              <a:t>View / read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203704"/>
            <a:ext cx="11640312" cy="4754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2295144"/>
            <a:ext cx="33649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Direct reports' data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77639" y="2313432"/>
            <a:ext cx="1371600" cy="256032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77639" y="23042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88780"/>
                </a:solidFill>
                <a:latin typeface="Calibri"/>
              </a:rPr>
              <a:t>No access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06440" y="2313432"/>
            <a:ext cx="1371600" cy="256032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06440" y="23042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7500A"/>
                </a:solidFill>
                <a:latin typeface="Calibri"/>
              </a:rPr>
              <a:t>Full access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26679" y="2313432"/>
            <a:ext cx="1371600" cy="256032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26679" y="23042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7500A"/>
                </a:solidFill>
                <a:latin typeface="Calibri"/>
              </a:rPr>
              <a:t>Full access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46920" y="2313432"/>
            <a:ext cx="1371600" cy="256032"/>
          </a:xfrm>
          <a:prstGeom prst="rect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46920" y="23042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91F1F"/>
                </a:solidFill>
                <a:latin typeface="Calibri"/>
              </a:rPr>
              <a:t>Aggregate only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2697480"/>
            <a:ext cx="11640312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" y="2788920"/>
            <a:ext cx="33649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Other departments' data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77639" y="2807208"/>
            <a:ext cx="1371600" cy="256032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77639" y="27980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88780"/>
                </a:solidFill>
                <a:latin typeface="Calibri"/>
              </a:rPr>
              <a:t>No access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06440" y="2807208"/>
            <a:ext cx="1371600" cy="256032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06440" y="27980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88780"/>
                </a:solidFill>
                <a:latin typeface="Calibri"/>
              </a:rPr>
              <a:t>No access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26679" y="2807208"/>
            <a:ext cx="1371600" cy="256032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26679" y="27980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7500A"/>
                </a:solidFill>
                <a:latin typeface="Calibri"/>
              </a:rPr>
              <a:t>Full access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646920" y="2807208"/>
            <a:ext cx="1371600" cy="256032"/>
          </a:xfrm>
          <a:prstGeom prst="rect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46920" y="27980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91F1F"/>
                </a:solidFill>
                <a:latin typeface="Calibri"/>
              </a:rPr>
              <a:t>Aggregate only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3191256"/>
            <a:ext cx="11640312" cy="4754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7472" y="3282696"/>
            <a:ext cx="33649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Course catalogue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977639" y="3300984"/>
            <a:ext cx="1371600" cy="256032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77639" y="3291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C447C"/>
                </a:solidFill>
                <a:latin typeface="Calibri"/>
              </a:rPr>
              <a:t>Own data only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06440" y="3300984"/>
            <a:ext cx="1371600" cy="256032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06440" y="3291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C447C"/>
                </a:solidFill>
                <a:latin typeface="Calibri"/>
              </a:rPr>
              <a:t>Own data only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726679" y="3300984"/>
            <a:ext cx="1371600" cy="256032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26679" y="3291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7500A"/>
                </a:solidFill>
                <a:latin typeface="Calibri"/>
              </a:rPr>
              <a:t>Full access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46920" y="3300984"/>
            <a:ext cx="1371600" cy="256032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46920" y="3291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33806"/>
                </a:solidFill>
                <a:latin typeface="Calibri"/>
              </a:rPr>
              <a:t>View / read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3685032"/>
            <a:ext cx="11640312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47472" y="3776472"/>
            <a:ext cx="33649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Disciplinary / PIP records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977639" y="3794760"/>
            <a:ext cx="1371600" cy="256032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977639" y="37856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C447C"/>
                </a:solidFill>
                <a:latin typeface="Calibri"/>
              </a:rPr>
              <a:t>Own data only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806440" y="3794760"/>
            <a:ext cx="1371600" cy="256032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806440" y="37856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C447C"/>
                </a:solidFill>
                <a:latin typeface="Calibri"/>
              </a:rPr>
              <a:t>Own data only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726679" y="3794760"/>
            <a:ext cx="1371600" cy="256032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726679" y="37856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7500A"/>
                </a:solidFill>
                <a:latin typeface="Calibri"/>
              </a:rPr>
              <a:t>Full access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646920" y="3794760"/>
            <a:ext cx="1371600" cy="256032"/>
          </a:xfrm>
          <a:prstGeom prst="rect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646920" y="37856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91F1F"/>
                </a:solidFill>
                <a:latin typeface="Calibri"/>
              </a:rPr>
              <a:t>Escalated only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4178808"/>
            <a:ext cx="11640312" cy="4754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47472" y="4270248"/>
            <a:ext cx="33649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Portal configuration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977639" y="4288536"/>
            <a:ext cx="1371600" cy="256032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977639" y="4279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88780"/>
                </a:solidFill>
                <a:latin typeface="Calibri"/>
              </a:rPr>
              <a:t>No access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806440" y="4288536"/>
            <a:ext cx="1371600" cy="256032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806440" y="4279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88780"/>
                </a:solidFill>
                <a:latin typeface="Calibri"/>
              </a:rPr>
              <a:t>No access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726679" y="4288536"/>
            <a:ext cx="1371600" cy="256032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726679" y="4279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7500A"/>
                </a:solidFill>
                <a:latin typeface="Calibri"/>
              </a:rPr>
              <a:t>Full access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646920" y="4288536"/>
            <a:ext cx="1371600" cy="256032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646920" y="4279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88780"/>
                </a:solidFill>
                <a:latin typeface="Calibri"/>
              </a:rPr>
              <a:t>No access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4672584"/>
            <a:ext cx="11640312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47472" y="4764024"/>
            <a:ext cx="33649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Org-wide analytics &amp; exports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977639" y="4782312"/>
            <a:ext cx="1371600" cy="256032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977639" y="47731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88780"/>
                </a:solidFill>
                <a:latin typeface="Calibri"/>
              </a:rPr>
              <a:t>No access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806440" y="4782312"/>
            <a:ext cx="1371600" cy="256032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806440" y="47731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88780"/>
                </a:solidFill>
                <a:latin typeface="Calibri"/>
              </a:rPr>
              <a:t>No access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726679" y="4782312"/>
            <a:ext cx="1371600" cy="256032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726679" y="47731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7500A"/>
                </a:solidFill>
                <a:latin typeface="Calibri"/>
              </a:rPr>
              <a:t>Full access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646920" y="4782312"/>
            <a:ext cx="1371600" cy="256032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646920" y="47731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33806"/>
                </a:solidFill>
                <a:latin typeface="Calibri"/>
              </a:rPr>
              <a:t>View / read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4320" y="5166360"/>
            <a:ext cx="11640312" cy="4754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47472" y="5257800"/>
            <a:ext cx="33649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Appraisal cycle management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977639" y="5276088"/>
            <a:ext cx="1371600" cy="256032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977639" y="52669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88780"/>
                </a:solidFill>
                <a:latin typeface="Calibri"/>
              </a:rPr>
              <a:t>No access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806440" y="5276088"/>
            <a:ext cx="1371600" cy="256032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806440" y="52669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88780"/>
                </a:solidFill>
                <a:latin typeface="Calibri"/>
              </a:rPr>
              <a:t>No access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726679" y="5276088"/>
            <a:ext cx="1371600" cy="256032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726679" y="52669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7500A"/>
                </a:solidFill>
                <a:latin typeface="Calibri"/>
              </a:rPr>
              <a:t>Full access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646920" y="5276088"/>
            <a:ext cx="1371600" cy="256032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646920" y="52669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33806"/>
                </a:solidFill>
                <a:latin typeface="Calibri"/>
              </a:rPr>
              <a:t>View / read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74320" y="5660136"/>
            <a:ext cx="11640312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47472" y="5751576"/>
            <a:ext cx="33649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KPI &amp; objective framework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977639" y="5769864"/>
            <a:ext cx="1371600" cy="256032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977639" y="5760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33806"/>
                </a:solidFill>
                <a:latin typeface="Calibri"/>
              </a:rPr>
              <a:t>View / read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806440" y="5769864"/>
            <a:ext cx="1371600" cy="256032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806440" y="5760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33806"/>
                </a:solidFill>
                <a:latin typeface="Calibri"/>
              </a:rPr>
              <a:t>View / read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726679" y="5769864"/>
            <a:ext cx="1371600" cy="256032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726679" y="5760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7500A"/>
                </a:solidFill>
                <a:latin typeface="Calibri"/>
              </a:rPr>
              <a:t>Full access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646920" y="5769864"/>
            <a:ext cx="1371600" cy="256032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646920" y="5760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7500A"/>
                </a:solidFill>
                <a:latin typeface="Calibri"/>
              </a:rPr>
              <a:t>Full access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Key Recommendations &amp; Design Principles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5577840" cy="2194560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73152" cy="2194560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58368" y="1399032"/>
            <a:ext cx="502920" cy="502920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4173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Go Bi-Annual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84248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Bi-annual cycle (mid-year check-in + year-end) catches gaps early enough to assign training before year-end. HR configures both windows at the start of each year.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234440"/>
            <a:ext cx="5577840" cy="2194560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234440"/>
            <a:ext cx="73152" cy="219456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56248" y="1399032"/>
            <a:ext cx="502920" cy="502920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39903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4173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Employee Drafts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1984248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Self-authored objectives drive stronger ownership and accountability. Manager aligns to KPIs, doesn't author from scratch. Both must sign off.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57600"/>
            <a:ext cx="5577840" cy="2194560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657600"/>
            <a:ext cx="73152" cy="2194560"/>
          </a:xfrm>
          <a:prstGeom prst="rect">
            <a:avLst/>
          </a:prstGeom>
          <a:solidFill>
            <a:srgbClr val="854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8368" y="3822191"/>
            <a:ext cx="502920" cy="502920"/>
          </a:xfrm>
          <a:prstGeom prst="ellipse">
            <a:avLst/>
          </a:prstGeom>
          <a:solidFill>
            <a:srgbClr val="854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82219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8404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HR Sees Everything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407408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HR receives a notification for every portal action — appraisal, training, disciplinary. A daily digest summarises all activity. This ensures audit-readiness at all times.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3657600"/>
            <a:ext cx="5577840" cy="2194560"/>
          </a:xfrm>
          <a:prstGeom prst="rect">
            <a:avLst/>
          </a:prstGeom>
          <a:solidFill>
            <a:srgbClr val="28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3657600"/>
            <a:ext cx="73152" cy="219456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56248" y="3822191"/>
            <a:ext cx="502920" cy="502920"/>
          </a:xfrm>
          <a:prstGeom prst="ellipse">
            <a:avLst/>
          </a:prstGeom>
          <a:solidFill>
            <a:srgbClr val="A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382219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38404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Auto-Escalation Built 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6248" y="4407408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Missed deadlines, low scores below threshold, and overdue PIPs all trigger automatic notifications. The system escalates upward — no manual chasing required.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08AC0"/>
                </a:solidFill>
                <a:latin typeface="Calibri"/>
              </a:rPr>
              <a:t>Performance Hub  •  Built for HR, Managers, Employees &amp; Executive Leadership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